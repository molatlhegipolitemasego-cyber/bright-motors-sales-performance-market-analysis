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B"/>
                </a:solidFill>
                <a:latin typeface="Montserrat"/>
              </a:defRPr>
            </a:pPr>
            <a:r>
              <a:rPr sz="1400" b="0" i="0" u="none" strike="noStrike">
                <a:solidFill>
                  <a:srgbClr val="0B1F3B"/>
                </a:solidFill>
                <a:latin typeface="Montserrat"/>
              </a:rPr>
              <a:t>Revenue by Make (USD millions)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F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FORD</c:v>
                  </c:pt>
                  <c:pt idx="1">
                    <c:v>CHEVROLET</c:v>
                  </c:pt>
                  <c:pt idx="2">
                    <c:v>NISSAN</c:v>
                  </c:pt>
                  <c:pt idx="3">
                    <c:v>TOYOTA</c:v>
                  </c:pt>
                  <c:pt idx="4">
                    <c:v>BMW</c:v>
                  </c:pt>
                  <c:pt idx="5">
                    <c:v>MERCEDES</c:v>
                  </c:pt>
                  <c:pt idx="6">
                    <c:v>DODGE</c:v>
                  </c:pt>
                  <c:pt idx="7">
                    <c:v>INFINITI</c:v>
                  </c:pt>
                  <c:pt idx="8">
                    <c:v>HONDA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1350</c:v>
                </c:pt>
                <c:pt idx="1">
                  <c:v>720</c:v>
                </c:pt>
                <c:pt idx="2">
                  <c:v>640</c:v>
                </c:pt>
                <c:pt idx="3">
                  <c:v>490</c:v>
                </c:pt>
                <c:pt idx="4">
                  <c:v>420</c:v>
                </c:pt>
                <c:pt idx="5">
                  <c:v>380</c:v>
                </c:pt>
                <c:pt idx="6">
                  <c:v>360</c:v>
                </c:pt>
                <c:pt idx="7">
                  <c:v>320</c:v>
                </c:pt>
                <c:pt idx="8">
                  <c:v>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B1F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3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B"/>
                </a:solidFill>
                <a:latin typeface="Montserrat"/>
              </a:defRPr>
            </a:pPr>
            <a:r>
              <a:rPr sz="1400" b="0" i="0" u="none" strike="noStrike">
                <a:solidFill>
                  <a:srgbClr val="0B1F3B"/>
                </a:solidFill>
                <a:latin typeface="Montserrat"/>
              </a:rPr>
              <a:t>Pricing Position Split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Pricing Position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C0C0C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Below Market</c:v>
                </c:pt>
                <c:pt idx="1">
                  <c:v>Above Market</c:v>
                </c:pt>
                <c:pt idx="2">
                  <c:v>At Market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50.4</c:v>
                </c:pt>
                <c:pt idx="1">
                  <c:v>47.6</c:v>
                </c:pt>
                <c:pt idx="2">
                  <c:v>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B1F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B"/>
                </a:solidFill>
                <a:latin typeface="Montserrat"/>
              </a:defRPr>
            </a:pPr>
            <a:r>
              <a:rPr sz="1400" b="0" i="0" u="none" strike="noStrike">
                <a:solidFill>
                  <a:srgbClr val="0B1F3B"/>
                </a:solidFill>
                <a:latin typeface="Montserrat"/>
              </a:rPr>
              <a:t>Selling Price vs Odometer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Selling Price</c:v>
                </c:pt>
              </c:strCache>
            </c:strRef>
          </c:tx>
          <c:spPr>
            <a:solidFill>
              <a:srgbClr val="2563EB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xVal>
            <c:numRef>
              <c:f>Sheet1!$A$2:$A$61</c:f>
              <c:numCache>
                <c:formatCode>General</c:formatCode>
                <c:ptCount val="60"/>
                <c:pt idx="0">
                  <c:v>33035</c:v>
                </c:pt>
                <c:pt idx="1">
                  <c:v>130116</c:v>
                </c:pt>
                <c:pt idx="2">
                  <c:v>60032</c:v>
                </c:pt>
                <c:pt idx="3">
                  <c:v>141935</c:v>
                </c:pt>
                <c:pt idx="4">
                  <c:v>2820</c:v>
                </c:pt>
                <c:pt idx="5">
                  <c:v>88781</c:v>
                </c:pt>
                <c:pt idx="6">
                  <c:v>131634</c:v>
                </c:pt>
                <c:pt idx="7">
                  <c:v>12639</c:v>
                </c:pt>
                <c:pt idx="8">
                  <c:v>66379</c:v>
                </c:pt>
                <c:pt idx="9">
                  <c:v>168142</c:v>
                </c:pt>
                <c:pt idx="10">
                  <c:v>151808</c:v>
                </c:pt>
                <c:pt idx="11">
                  <c:v>174048</c:v>
                </c:pt>
                <c:pt idx="12">
                  <c:v>22170</c:v>
                </c:pt>
                <c:pt idx="13">
                  <c:v>96274</c:v>
                </c:pt>
                <c:pt idx="14">
                  <c:v>22183</c:v>
                </c:pt>
                <c:pt idx="15">
                  <c:v>150843</c:v>
                </c:pt>
                <c:pt idx="16">
                  <c:v>66294</c:v>
                </c:pt>
                <c:pt idx="17">
                  <c:v>10507</c:v>
                </c:pt>
                <c:pt idx="18">
                  <c:v>26584</c:v>
                </c:pt>
                <c:pt idx="19">
                  <c:v>19898</c:v>
                </c:pt>
                <c:pt idx="20">
                  <c:v>178825</c:v>
                </c:pt>
                <c:pt idx="21">
                  <c:v>10017</c:v>
                </c:pt>
                <c:pt idx="22">
                  <c:v>3136</c:v>
                </c:pt>
                <c:pt idx="23">
                  <c:v>96810</c:v>
                </c:pt>
                <c:pt idx="24">
                  <c:v>41942</c:v>
                </c:pt>
                <c:pt idx="25">
                  <c:v>91015</c:v>
                </c:pt>
                <c:pt idx="26">
                  <c:v>151605</c:v>
                </c:pt>
                <c:pt idx="27">
                  <c:v>94889</c:v>
                </c:pt>
                <c:pt idx="28">
                  <c:v>161162</c:v>
                </c:pt>
                <c:pt idx="29">
                  <c:v>67529</c:v>
                </c:pt>
                <c:pt idx="30">
                  <c:v>102746</c:v>
                </c:pt>
                <c:pt idx="31">
                  <c:v>59243</c:v>
                </c:pt>
                <c:pt idx="32">
                  <c:v>22101</c:v>
                </c:pt>
                <c:pt idx="33">
                  <c:v>21490</c:v>
                </c:pt>
                <c:pt idx="34">
                  <c:v>46649</c:v>
                </c:pt>
                <c:pt idx="35">
                  <c:v>57231</c:v>
                </c:pt>
                <c:pt idx="36">
                  <c:v>94247</c:v>
                </c:pt>
                <c:pt idx="37">
                  <c:v>96082</c:v>
                </c:pt>
                <c:pt idx="38">
                  <c:v>157908</c:v>
                </c:pt>
                <c:pt idx="39">
                  <c:v>107799</c:v>
                </c:pt>
                <c:pt idx="40">
                  <c:v>157255</c:v>
                </c:pt>
                <c:pt idx="41">
                  <c:v>167445</c:v>
                </c:pt>
                <c:pt idx="42">
                  <c:v>41697</c:v>
                </c:pt>
                <c:pt idx="43">
                  <c:v>170880</c:v>
                </c:pt>
                <c:pt idx="44">
                  <c:v>16157</c:v>
                </c:pt>
                <c:pt idx="45">
                  <c:v>85932</c:v>
                </c:pt>
                <c:pt idx="46">
                  <c:v>89123</c:v>
                </c:pt>
                <c:pt idx="47">
                  <c:v>103899</c:v>
                </c:pt>
                <c:pt idx="48">
                  <c:v>27779</c:v>
                </c:pt>
                <c:pt idx="49">
                  <c:v>44632</c:v>
                </c:pt>
                <c:pt idx="50">
                  <c:v>8723</c:v>
                </c:pt>
                <c:pt idx="51">
                  <c:v>113682</c:v>
                </c:pt>
                <c:pt idx="52">
                  <c:v>10828</c:v>
                </c:pt>
                <c:pt idx="53">
                  <c:v>85033</c:v>
                </c:pt>
                <c:pt idx="54">
                  <c:v>32822</c:v>
                </c:pt>
                <c:pt idx="55">
                  <c:v>167830</c:v>
                </c:pt>
                <c:pt idx="56">
                  <c:v>155413</c:v>
                </c:pt>
                <c:pt idx="57">
                  <c:v>121791</c:v>
                </c:pt>
                <c:pt idx="58">
                  <c:v>171384</c:v>
                </c:pt>
                <c:pt idx="59">
                  <c:v>160240</c:v>
                </c:pt>
              </c:numCache>
            </c:numRef>
          </c:xVal>
          <c:yVal>
            <c:numRef>
              <c:f>Sheet1!$B$2:$B$61</c:f>
              <c:numCache>
                <c:formatCode>General</c:formatCode>
                <c:ptCount val="60"/>
                <c:pt idx="0">
                  <c:v>17633</c:v>
                </c:pt>
                <c:pt idx="1">
                  <c:v>6799</c:v>
                </c:pt>
                <c:pt idx="2">
                  <c:v>12448</c:v>
                </c:pt>
                <c:pt idx="3">
                  <c:v>5389</c:v>
                </c:pt>
                <c:pt idx="4">
                  <c:v>26833</c:v>
                </c:pt>
                <c:pt idx="5">
                  <c:v>10173</c:v>
                </c:pt>
                <c:pt idx="6">
                  <c:v>5747</c:v>
                </c:pt>
                <c:pt idx="7">
                  <c:v>25865</c:v>
                </c:pt>
                <c:pt idx="8">
                  <c:v>12950</c:v>
                </c:pt>
                <c:pt idx="9">
                  <c:v>4349</c:v>
                </c:pt>
                <c:pt idx="10">
                  <c:v>3802</c:v>
                </c:pt>
                <c:pt idx="11">
                  <c:v>4330</c:v>
                </c:pt>
                <c:pt idx="12">
                  <c:v>23465</c:v>
                </c:pt>
                <c:pt idx="13">
                  <c:v>9087</c:v>
                </c:pt>
                <c:pt idx="14">
                  <c:v>23817</c:v>
                </c:pt>
                <c:pt idx="15">
                  <c:v>4923</c:v>
                </c:pt>
                <c:pt idx="16">
                  <c:v>13778</c:v>
                </c:pt>
                <c:pt idx="17">
                  <c:v>23803</c:v>
                </c:pt>
                <c:pt idx="18">
                  <c:v>21275</c:v>
                </c:pt>
                <c:pt idx="19">
                  <c:v>20950</c:v>
                </c:pt>
                <c:pt idx="20">
                  <c:v>3337</c:v>
                </c:pt>
                <c:pt idx="21">
                  <c:v>25040</c:v>
                </c:pt>
                <c:pt idx="22">
                  <c:v>28138</c:v>
                </c:pt>
                <c:pt idx="23">
                  <c:v>10805</c:v>
                </c:pt>
                <c:pt idx="24">
                  <c:v>17529</c:v>
                </c:pt>
                <c:pt idx="25">
                  <c:v>8913</c:v>
                </c:pt>
                <c:pt idx="26">
                  <c:v>3843</c:v>
                </c:pt>
                <c:pt idx="27">
                  <c:v>8459</c:v>
                </c:pt>
                <c:pt idx="28">
                  <c:v>3748</c:v>
                </c:pt>
                <c:pt idx="29">
                  <c:v>13806</c:v>
                </c:pt>
                <c:pt idx="30">
                  <c:v>10889</c:v>
                </c:pt>
                <c:pt idx="31">
                  <c:v>13496</c:v>
                </c:pt>
                <c:pt idx="32">
                  <c:v>20228</c:v>
                </c:pt>
                <c:pt idx="33">
                  <c:v>22196</c:v>
                </c:pt>
                <c:pt idx="34">
                  <c:v>17184</c:v>
                </c:pt>
                <c:pt idx="35">
                  <c:v>14599</c:v>
                </c:pt>
                <c:pt idx="36">
                  <c:v>8145</c:v>
                </c:pt>
                <c:pt idx="37">
                  <c:v>9489</c:v>
                </c:pt>
                <c:pt idx="38">
                  <c:v>4475</c:v>
                </c:pt>
                <c:pt idx="39">
                  <c:v>7360</c:v>
                </c:pt>
                <c:pt idx="40">
                  <c:v>5038</c:v>
                </c:pt>
                <c:pt idx="41">
                  <c:v>5691</c:v>
                </c:pt>
                <c:pt idx="42">
                  <c:v>17997</c:v>
                </c:pt>
                <c:pt idx="43">
                  <c:v>4601</c:v>
                </c:pt>
                <c:pt idx="44">
                  <c:v>23329</c:v>
                </c:pt>
                <c:pt idx="45">
                  <c:v>11141</c:v>
                </c:pt>
                <c:pt idx="46">
                  <c:v>10315</c:v>
                </c:pt>
                <c:pt idx="47">
                  <c:v>10667</c:v>
                </c:pt>
                <c:pt idx="48">
                  <c:v>22164</c:v>
                </c:pt>
                <c:pt idx="49">
                  <c:v>18821</c:v>
                </c:pt>
                <c:pt idx="50">
                  <c:v>26062</c:v>
                </c:pt>
                <c:pt idx="51">
                  <c:v>6909</c:v>
                </c:pt>
                <c:pt idx="52">
                  <c:v>26012</c:v>
                </c:pt>
                <c:pt idx="53">
                  <c:v>12242</c:v>
                </c:pt>
                <c:pt idx="54">
                  <c:v>18703</c:v>
                </c:pt>
                <c:pt idx="55">
                  <c:v>5423</c:v>
                </c:pt>
                <c:pt idx="56">
                  <c:v>6471</c:v>
                </c:pt>
                <c:pt idx="57">
                  <c:v>7800</c:v>
                </c:pt>
                <c:pt idx="58">
                  <c:v>3781</c:v>
                </c:pt>
                <c:pt idx="59">
                  <c:v>4450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4A3B8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94A3B8"/>
                    </a:solidFill>
                    <a:latin typeface="Calibri"/>
                  </a:rPr>
                  <a:t>Odometer (miles)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4A3B8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94A3B8"/>
                    </a:solidFill>
                    <a:latin typeface="Calibri"/>
                  </a:rPr>
                  <a:t>Selling Price (USD)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B"/>
                </a:solidFill>
                <a:latin typeface="Montserrat"/>
              </a:defRPr>
            </a:pPr>
            <a:r>
              <a:rPr sz="1400" b="0" i="0" u="none" strike="noStrike">
                <a:solidFill>
                  <a:srgbClr val="0B1F3B"/>
                </a:solidFill>
                <a:latin typeface="Montserrat"/>
              </a:rPr>
              <a:t>Average Selling Price by Vehicle Year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Selling Price</c:v>
                </c:pt>
              </c:strCache>
            </c:strRef>
          </c:tx>
          <c:spPr>
            <a:solidFill>
              <a:srgbClr val="2563EB"/>
            </a:solidFill>
            <a:ln w="381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F3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2005</c:v>
                  </c:pt>
                  <c:pt idx="1">
                    <c:v>2008</c:v>
                  </c:pt>
                  <c:pt idx="2">
                    <c:v>2010</c:v>
                  </c:pt>
                  <c:pt idx="3">
                    <c:v>2012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3800</c:v>
                </c:pt>
                <c:pt idx="1">
                  <c:v>5200</c:v>
                </c:pt>
                <c:pt idx="2">
                  <c:v>7100</c:v>
                </c:pt>
                <c:pt idx="3">
                  <c:v>9500</c:v>
                </c:pt>
                <c:pt idx="4">
                  <c:v>12800</c:v>
                </c:pt>
                <c:pt idx="5">
                  <c:v>14500</c:v>
                </c:pt>
                <c:pt idx="6">
                  <c:v>16800</c:v>
                </c:pt>
                <c:pt idx="7">
                  <c:v>19200</c:v>
                </c:pt>
                <c:pt idx="8">
                  <c:v>22500</c:v>
                </c:pt>
                <c:pt idx="9">
                  <c:v>25800</c:v>
                </c:pt>
                <c:pt idx="10">
                  <c:v>28900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B1F3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B"/>
                </a:solidFill>
                <a:latin typeface="Montserrat"/>
              </a:defRPr>
            </a:pPr>
            <a:r>
              <a:rPr sz="1400" b="0" i="0" u="none" strike="noStrike">
                <a:solidFill>
                  <a:srgbClr val="0B1F3B"/>
                </a:solidFill>
                <a:latin typeface="Montserrat"/>
              </a:rPr>
              <a:t>Customer Body-Type Share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1E40AF"/>
              </a:solidFill>
              <a:effectLst/>
            </c:spPr>
          </c:dPt>
          <c:dPt>
            <c:idx val="2"/>
            <c:bubble3D val="0"/>
            <c:spPr>
              <a:solidFill>
                <a:srgbClr val="0B1F3B"/>
              </a:solidFill>
              <a:effectLst/>
            </c:spPr>
          </c:dPt>
          <c:dPt>
            <c:idx val="3"/>
            <c:bubble3D val="0"/>
            <c:spPr>
              <a:solidFill>
                <a:srgbClr val="60A5FA"/>
              </a:solidFill>
              <a:effectLst/>
            </c:spPr>
          </c:dPt>
          <c:dPt>
            <c:idx val="4"/>
            <c:bubble3D val="0"/>
            <c:spPr>
              <a:solidFill>
                <a:srgbClr val="C0C0C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SEDAN</c:v>
                </c:pt>
                <c:pt idx="1">
                  <c:v>SUV</c:v>
                </c:pt>
                <c:pt idx="2">
                  <c:v>OTHERS</c:v>
                </c:pt>
                <c:pt idx="3">
                  <c:v>CREW CAB</c:v>
                </c:pt>
                <c:pt idx="4">
                  <c:v>MINIVAN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43</c:v>
                </c:pt>
                <c:pt idx="1">
                  <c:v>26</c:v>
                </c:pt>
                <c:pt idx="2">
                  <c:v>23.4</c:v>
                </c:pt>
                <c:pt idx="3">
                  <c:v>4.5</c:v>
                </c:pt>
                <c:pt idx="4">
                  <c:v>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0B1F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C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705432" cy="6858000"/>
          </a:xfrm>
          <a:prstGeom prst="rect">
            <a:avLst/>
          </a:prstGeom>
          <a:solidFill>
            <a:srgbClr val="07172C">
              <a:alpha val="8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2331720"/>
            <a:ext cx="164592" cy="14630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BRIGHT MOTORS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74320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Performance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&amp; Market Analysis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Case Study  •  Executive Briefing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5212080"/>
            <a:ext cx="14630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349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Head of Sales  |  BrightLearn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 /  CONTEXT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Overview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is a multi-state dealership operating in a competitive U.S. used-car market. A newly appointed Head of Sales is driving a strategic reset focused on growth, pricing discipline and inventory efficiency.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31089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474720"/>
            <a:ext cx="310896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06908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regional sales performance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inconsistency vs. market value (MMR)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not aligned to demand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3474720"/>
            <a:ext cx="31089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3474720"/>
            <a:ext cx="310896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0" y="406908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revenue makes &amp; models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pricing position vs MMR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regional opportunity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inventory mix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0" y="1828800"/>
            <a:ext cx="4389120" cy="4297680"/>
          </a:xfrm>
          <a:prstGeom prst="roundRect">
            <a:avLst>
              <a:gd name="adj" fmla="val 2128"/>
            </a:avLst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19659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43800" y="23774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$7.54B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543800" y="2788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43800" y="30906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531,981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543800" y="35021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Sold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43800" y="380390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$13,958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543800" y="42153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Selling Price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43800" y="451713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13,718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543800" y="492861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Sellers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43800" y="52303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543800" y="56418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States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Performance &amp; Market Analysis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 / 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Bright Car Sales dataset captures daily transactional and pricing records for vehicles sold across the dealership network — enriched with market value (MMR) benchmarks for pricing efficiency analysis.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34640"/>
            <a:ext cx="3657600" cy="457200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VEHICLE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474720"/>
            <a:ext cx="3246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&amp; Model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Type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Odometer (mileage)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283464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2834640"/>
            <a:ext cx="3657600" cy="457200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3474720"/>
            <a:ext cx="3246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Price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(Market Value)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Position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283464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2834640"/>
            <a:ext cx="3657600" cy="457200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ENGINEERED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75320" y="3474720"/>
            <a:ext cx="3246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Gap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Bucket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Segment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 Segment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Age Group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transformation: removed duplicates, normalised text-based prices to numeric, derived market_gap = sellingprice − MMR, and bucketed vehicles by price, mileage and age tiers.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Performance &amp; Market Analysis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 /  APPROACH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103120"/>
            <a:ext cx="2176272" cy="384048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03120"/>
            <a:ext cx="217627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317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Ingest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181051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Bright Car Sales CSV loaded into Databricks / SQL warehouse.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24912" y="2103120"/>
            <a:ext cx="2176272" cy="384048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24912" y="2103120"/>
            <a:ext cx="217627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2907792" y="23317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907792" y="301752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907792" y="3566160"/>
            <a:ext cx="181051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prices, deduplicate VINs, handle missing values &amp; casing.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92624" y="2103120"/>
            <a:ext cx="2176272" cy="384048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92624" y="2103120"/>
            <a:ext cx="217627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75504" y="23317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175504" y="301752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Engineer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75504" y="3566160"/>
            <a:ext cx="181051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market_gap, pricing_position, age &amp; mileage segments.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60336" y="2103120"/>
            <a:ext cx="2176272" cy="384048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0336" y="2103120"/>
            <a:ext cx="217627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7443216" y="23317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443216" y="301752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Visualise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43216" y="3566160"/>
            <a:ext cx="181051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 executive dashboard with cross-filtered KPIs.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528048" y="2103120"/>
            <a:ext cx="2176272" cy="384048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28048" y="2103120"/>
            <a:ext cx="217627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9710928" y="23317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9710928" y="301752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710928" y="3566160"/>
            <a:ext cx="181051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insights into actions for the Head of Sales.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Databricks • SQL • Looker Studio • PowerPoint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Performance &amp; Market Analysis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 /  DASHBOARD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Dashboard Overview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920240"/>
            <a:ext cx="749808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11680"/>
            <a:ext cx="7315200" cy="4251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IN LOOKER STUDIO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0" y="22402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Single-pane visibility across revenue, pricing position, regional sales and customer preference — fully interactive with cross-filters.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0" y="3749040"/>
            <a:ext cx="54864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2" name="Text 9"/>
          <p:cNvSpPr/>
          <p:nvPr/>
        </p:nvSpPr>
        <p:spPr>
          <a:xfrm>
            <a:off x="8394192" y="3703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$7.54B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394192" y="4041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229600" y="4407408"/>
            <a:ext cx="54864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43616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531,981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394192" y="47000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Sold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229600" y="5065776"/>
            <a:ext cx="54864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502005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$13,958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394192" y="53583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Selling Price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229600" y="5724144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8394192" y="567842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−$145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394192" y="60167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Market Gap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Performance &amp; Market Analysis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 /  REVENUE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&amp; Top-Performing Makes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7" name="Chart 0" descr=""/>
          <p:cNvGraphicFramePr/>
          <p:nvPr/>
        </p:nvGraphicFramePr>
        <p:xfrm>
          <a:off x="457200" y="1828800"/>
          <a:ext cx="68580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589520" y="1828800"/>
            <a:ext cx="4114800" cy="4389120"/>
          </a:xfrm>
          <a:prstGeom prst="roundRect">
            <a:avLst>
              <a:gd name="adj" fmla="val 2222"/>
            </a:avLst>
          </a:prstGeom>
          <a:solidFill>
            <a:srgbClr val="0B1F3B"/>
          </a:solidFill>
          <a:ln/>
        </p:spPr>
      </p:sp>
      <p:sp>
        <p:nvSpPr>
          <p:cNvPr id="9" name="Text 6"/>
          <p:cNvSpPr/>
          <p:nvPr/>
        </p:nvSpPr>
        <p:spPr>
          <a:xfrm>
            <a:off x="781812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237744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leads with ~$1.35B revenue — 18% of total sales.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makes (Ford, Chevy, Nissan) drive ~36% of revenue.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F-150 is the #1 model at ~$150M — pickup demand is structural.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makes (BMW, Mercedes) deliver high revenue per unit.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Performance &amp; Market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 /  REGIONS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Regional Performance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658368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6400800" cy="4251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STATES BY VOLUME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0" y="2240280"/>
            <a:ext cx="54864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7479792" y="2240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595360" y="2258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80K units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15200" y="2743200"/>
            <a:ext cx="54864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7479792" y="2743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595360" y="27614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70K units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315200" y="3246120"/>
            <a:ext cx="54864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7479792" y="3246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595360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55K units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15200" y="3749040"/>
            <a:ext cx="54864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7479792" y="3749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TX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595360" y="37673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45K units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315200" y="4251960"/>
            <a:ext cx="54864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0"/>
          <p:cNvSpPr/>
          <p:nvPr/>
        </p:nvSpPr>
        <p:spPr>
          <a:xfrm>
            <a:off x="7479792" y="4251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595360" y="42702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35K units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315200" y="4937760"/>
            <a:ext cx="4389120" cy="1371600"/>
          </a:xfrm>
          <a:prstGeom prst="roundRect">
            <a:avLst>
              <a:gd name="adj" fmla="val 6667"/>
            </a:avLst>
          </a:prstGeom>
          <a:solidFill>
            <a:srgbClr val="0B1F3B"/>
          </a:solidFill>
          <a:ln/>
        </p:spPr>
      </p:sp>
      <p:sp>
        <p:nvSpPr>
          <p:cNvPr id="26" name="Text 23"/>
          <p:cNvSpPr/>
          <p:nvPr/>
        </p:nvSpPr>
        <p:spPr>
          <a:xfrm>
            <a:off x="7498080" y="5029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498080" y="534924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&amp; California alone account for ~28% of total volume — high-density markets to defend; mid-tier states (NC, OH, NJ) offer the clearest expansion runway.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Performance &amp; Market Analysis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  /  PRICING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Pricing Efficiency Analysis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7" name="Chart 0" descr=""/>
          <p:cNvGraphicFramePr/>
          <p:nvPr/>
        </p:nvGraphicFramePr>
        <p:xfrm>
          <a:off x="365760" y="1828800"/>
          <a:ext cx="50292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943600" y="1828800"/>
            <a:ext cx="57607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0" y="1828800"/>
            <a:ext cx="91440" cy="1325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617220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50.4%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046720" y="2011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Below Market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46720" y="24688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under MMR — leaves margin on the table.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0" y="3291840"/>
            <a:ext cx="57607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0" y="3291840"/>
            <a:ext cx="91440" cy="1325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200" y="3474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47.6%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046720" y="3474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Above Market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46720" y="3931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 — drives revenue but slows turn.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43600" y="4754880"/>
            <a:ext cx="57607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3600" y="4754880"/>
            <a:ext cx="91440" cy="1325880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20" name="Text 17"/>
          <p:cNvSpPr/>
          <p:nvPr/>
        </p:nvSpPr>
        <p:spPr>
          <a:xfrm>
            <a:off x="6172200" y="4937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2.0%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8046720" y="4937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 Market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046720" y="53949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MMR — the sweet spot we want to grow.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gap (avg −$145) signals a slight discount bias — disciplined repricing of below-market inventory is the fastest margin lever.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Performance &amp; Market Analysis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  /  DEPRECIATION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Price vs Mileage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7" name="Chart 0" descr=""/>
          <p:cNvGraphicFramePr/>
          <p:nvPr/>
        </p:nvGraphicFramePr>
        <p:xfrm>
          <a:off x="457200" y="1828800"/>
          <a:ext cx="71323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863840" y="1828800"/>
            <a:ext cx="3840480" cy="4389120"/>
          </a:xfrm>
          <a:prstGeom prst="roundRect">
            <a:avLst>
              <a:gd name="adj" fmla="val 2381"/>
            </a:avLst>
          </a:prstGeom>
          <a:solidFill>
            <a:srgbClr val="0B1F3B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38160" y="237744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inverse relationship — price falls sharply past 80K miles.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 for inventory: 30K–80K miles, where price holds firmest.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High-mileage units (&gt;120K) cluster under $5K and tie up floor space.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Performance &amp; Market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  /  AGE TREND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Vehicle Age vs Selling Price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7" name="Chart 0" descr=""/>
          <p:cNvGraphicFramePr/>
          <p:nvPr/>
        </p:nvGraphicFramePr>
        <p:xfrm>
          <a:off x="457200" y="1828800"/>
          <a:ext cx="71323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863840" y="1828800"/>
            <a:ext cx="3840480" cy="4389120"/>
          </a:xfrm>
          <a:prstGeom prst="roundRect">
            <a:avLst>
              <a:gd name="adj" fmla="val 2381"/>
            </a:avLst>
          </a:prstGeom>
          <a:solidFill>
            <a:srgbClr val="0B1F3B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DEPRECIATION CURVE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38160" y="237744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vehicles (2018+) command ~5–7× the price of pre-2010 stock.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Steepest value drop occurs in the first 3 years of vehicle age.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procurement toward 2–5 year-old vehicles to maximise margin.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Performance &amp; Market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 /  DEMAND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5 Body Types by Customer Preference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7" name="Chart 0" descr=""/>
          <p:cNvGraphicFramePr/>
          <p:nvPr/>
        </p:nvGraphicFramePr>
        <p:xfrm>
          <a:off x="365760" y="1828800"/>
          <a:ext cx="53035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217920" y="182880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0" y="1828800"/>
            <a:ext cx="73152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SEDAN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43%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0" y="20574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backbone — broad appeal, fast turn.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292608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0" y="2926080"/>
            <a:ext cx="73152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SUV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29600" y="3154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segment with strong margin headroom.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402336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0" y="4023360"/>
            <a:ext cx="73152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CREW CAB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0" y="4526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4.5%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229600" y="42519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but loyal buyers; bundle with finance.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17920" y="512064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17920" y="5120640"/>
            <a:ext cx="73152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0" y="5257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MINIVAN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400800" y="5623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3%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8229600" y="53492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Family-driven demand; keep lean stock.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Sedans + SUVs = ~69% of demand. Tilt inventory and showroom space toward these two body types.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Performance &amp; Market Analysis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C">
              <a:alpha val="7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Text 3"/>
          <p:cNvSpPr/>
          <p:nvPr/>
        </p:nvSpPr>
        <p:spPr>
          <a:xfrm>
            <a:off x="713232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 /  ACTION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Recommendations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54864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187452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07172C">
              <a:alpha val="80000"/>
            </a:srgbClr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01168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1554480" y="2011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Double down on hero makes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54480" y="244144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Ford, Chevrolet &amp; Nissan in procurement — they drive 36% of revenue.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187452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07172C">
              <a:alpha val="80000"/>
            </a:srgbClr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201168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7223760" y="2011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Reprice below-market stock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223760" y="244144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the 50% of inventory sold under MMR to recover average market gap.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33756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07172C">
              <a:alpha val="80000"/>
            </a:srgbClr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347472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1554480" y="34747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Expand in high-velocity states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554480" y="390448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 FL &amp; CA presence; pilot mid-tier states (NC, OH, NJ) for growth.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26480" y="333756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07172C">
              <a:alpha val="80000"/>
            </a:srgbClr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09360" y="347472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7223760" y="34747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Optimise the inventory sweet spot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223760" y="390448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2–5 year-old vehicles with 30K–80K miles to maximise margin per unit.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80060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07172C">
              <a:alpha val="80000"/>
            </a:srgbClr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493776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1554480" y="49377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Lean into Sedans &amp; SUVs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554480" y="536752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~70% of inventory budget to the body types driving real demand.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126480" y="480060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07172C">
              <a:alpha val="80000"/>
            </a:srgbClr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09360" y="493776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3000" dirty="0"/>
          </a:p>
        </p:txBody>
      </p:sp>
      <p:sp>
        <p:nvSpPr>
          <p:cNvPr id="31" name="Text 28"/>
          <p:cNvSpPr/>
          <p:nvPr/>
        </p:nvSpPr>
        <p:spPr>
          <a:xfrm>
            <a:off x="7223760" y="49377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Industrialise pricing discipline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7223760" y="536752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MMR-based pricing rules into the sales floor workflow.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Strategic briefing for the Head of Sales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Motors Sales Performance &amp; Market Analysis</dc:title>
  <dc:subject>PptxGenJS Presentation</dc:subject>
  <dc:creator>Bright Motors Analytics</dc:creator>
  <cp:lastModifiedBy>Bright Motors Analytics</cp:lastModifiedBy>
  <cp:revision>1</cp:revision>
  <dcterms:created xsi:type="dcterms:W3CDTF">2026-05-31T09:01:51Z</dcterms:created>
  <dcterms:modified xsi:type="dcterms:W3CDTF">2026-05-31T09:01:51Z</dcterms:modified>
</cp:coreProperties>
</file>